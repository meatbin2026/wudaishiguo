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FFFFFF"/>
                </a:solidFill>
                <a:latin typeface="Microsoft YaHei"/>
              </a:rPr>
              <a:t>知识管理培训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D6E4F5"/>
                </a:solidFill>
                <a:latin typeface="Microsoft YaHei"/>
              </a:rPr>
              <a:t>10分钟快速上手：从“资料堆积”到“可复用资产”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011680"/>
            <a:ext cx="4114800" cy="502920"/>
          </a:xfrm>
          <a:prstGeom prst="roundRect">
            <a:avLst/>
          </a:prstGeom>
          <a:solidFill>
            <a:srgbClr val="09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结构化 · 标准化 · 视觉化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2608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926080"/>
            <a:ext cx="73152" cy="2011680"/>
          </a:xfrm>
          <a:prstGeom prst="rect">
            <a:avLst/>
          </a:prstGeom>
          <a:solidFill>
            <a:srgbClr val="6C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培训收益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38144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统一知识口径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减少重复沟通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加速新人上手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92608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2926080"/>
            <a:ext cx="73152" cy="2011680"/>
          </a:xfrm>
          <a:prstGeom prst="rect">
            <a:avLst/>
          </a:prstGeom>
          <a:solidFill>
            <a:srgbClr val="86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090672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适用对象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438144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团队管理者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业务骨干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流程与运营岗位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92608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926080"/>
            <a:ext cx="73152" cy="2011680"/>
          </a:xfrm>
          <a:prstGeom prst="rect">
            <a:avLst/>
          </a:prstGeom>
          <a:solidFill>
            <a:srgbClr val="FFC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090672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输出物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438144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知识地图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知识卡模板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90天落地计划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01/14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0F274A"/>
                </a:solidFill>
                <a:latin typeface="Microsoft YaHei"/>
              </a:rPr>
              <a:t>培训目标与议程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86677"/>
                </a:solidFill>
                <a:latin typeface="Microsoft YaHei"/>
              </a:rPr>
              <a:t>10分钟分为 4 段：认知、方法、落地、行动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2286000"/>
            <a:ext cx="548640" cy="548640"/>
          </a:xfrm>
          <a:prstGeom prst="ellipse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21272E"/>
                </a:solidFill>
                <a:latin typeface="Microsoft YaHei"/>
              </a:rPr>
              <a:t>01 认知</a:t>
            </a:r>
          </a:p>
          <a:p>
            <a:r>
              <a:rPr sz="1400">
                <a:solidFill>
                  <a:srgbClr val="586677"/>
                </a:solidFill>
                <a:latin typeface="Microsoft YaHei"/>
              </a:rPr>
              <a:t>为什么做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1168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rgbClr val="09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97180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21272E"/>
                </a:solidFill>
                <a:latin typeface="Microsoft YaHei"/>
              </a:rPr>
              <a:t>02 方法</a:t>
            </a:r>
          </a:p>
          <a:p>
            <a:r>
              <a:rPr sz="1400">
                <a:solidFill>
                  <a:srgbClr val="586677"/>
                </a:solidFill>
                <a:latin typeface="Microsoft YaHei"/>
              </a:rPr>
              <a:t>怎么做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01168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79" y="2286000"/>
            <a:ext cx="548640" cy="548640"/>
          </a:xfrm>
          <a:prstGeom prst="ellipse">
            <a:avLst/>
          </a:prstGeom>
          <a:solidFill>
            <a:srgbClr val="2D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97180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21272E"/>
                </a:solidFill>
                <a:latin typeface="Microsoft YaHei"/>
              </a:rPr>
              <a:t>03 落地</a:t>
            </a:r>
          </a:p>
          <a:p>
            <a:r>
              <a:rPr sz="1400">
                <a:solidFill>
                  <a:srgbClr val="586677"/>
                </a:solidFill>
                <a:latin typeface="Microsoft YaHei"/>
              </a:rPr>
              <a:t>谁来做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01168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19" y="2286000"/>
            <a:ext cx="548640" cy="548640"/>
          </a:xfrm>
          <a:prstGeom prst="ellipse">
            <a:avLst/>
          </a:prstGeom>
          <a:solidFill>
            <a:srgbClr val="F5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297180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21272E"/>
                </a:solidFill>
                <a:latin typeface="Microsoft YaHei"/>
              </a:rPr>
              <a:t>04 行动</a:t>
            </a:r>
          </a:p>
          <a:p>
            <a:r>
              <a:rPr sz="1400">
                <a:solidFill>
                  <a:srgbClr val="586677"/>
                </a:solidFill>
                <a:latin typeface="Microsoft YaHei"/>
              </a:rPr>
              <a:t>何时做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02/14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0F274A"/>
                </a:solidFill>
                <a:latin typeface="Microsoft YaHei"/>
              </a:rPr>
              <a:t>为什么要做知识管理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86677"/>
                </a:solidFill>
                <a:latin typeface="Microsoft YaHei"/>
              </a:rPr>
              <a:t>问题不是“没有知识”，而是“知识不可被快速找到和复用”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577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73152" cy="4297680"/>
          </a:xfrm>
          <a:prstGeom prst="rect">
            <a:avLst/>
          </a:prstGeom>
          <a:solidFill>
            <a:srgbClr val="E25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典型痛点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9424"/>
            <a:ext cx="5257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同样问题反复问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文档命名混乱，搜索困难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离职/轮岗导致经验断层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新人上手周期过长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37360"/>
            <a:ext cx="5074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37360"/>
            <a:ext cx="73152" cy="4297680"/>
          </a:xfrm>
          <a:prstGeom prst="rect">
            <a:avLst/>
          </a:prstGeom>
          <a:solidFill>
            <a:srgbClr val="2D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0195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预期收益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49424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效率：检索时间下降 30%-50%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质量：关键流程标准化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组织：经验沉淀为可复用资产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协同：跨团队沟通成本下降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5212080"/>
            <a:ext cx="4572000" cy="731520"/>
          </a:xfrm>
          <a:prstGeom prst="roundRect">
            <a:avLst/>
          </a:prstGeom>
          <a:solidFill>
            <a:srgbClr val="D7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97A7A"/>
                </a:solidFill>
                <a:latin typeface="Microsoft YaHei"/>
              </a:rPr>
              <a:t>核心原则：让正确的人，在正确时间，拿到正确知识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03/14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0F274A"/>
                </a:solidFill>
                <a:latin typeface="Microsoft YaHei"/>
              </a:rPr>
              <a:t>知识管理全景模型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86677"/>
                </a:solidFill>
                <a:latin typeface="Microsoft YaHei"/>
              </a:rPr>
              <a:t>形成闭环：采集 → 结构化 → 分发 → 应用 → 复盘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743200"/>
            <a:ext cx="1645920" cy="1645920"/>
          </a:xfrm>
          <a:prstGeom prst="ellipse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采集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80" y="3310128"/>
            <a:ext cx="594360" cy="502920"/>
          </a:xfrm>
          <a:prstGeom prst="rightArrow">
            <a:avLst/>
          </a:prstGeom>
          <a:solidFill>
            <a:srgbClr val="B2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0" y="2743200"/>
            <a:ext cx="1645920" cy="1645920"/>
          </a:xfrm>
          <a:prstGeom prst="ellipse">
            <a:avLst/>
          </a:prstGeom>
          <a:solidFill>
            <a:srgbClr val="09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结构化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09160" y="3310128"/>
            <a:ext cx="594360" cy="502920"/>
          </a:xfrm>
          <a:prstGeom prst="rightArrow">
            <a:avLst/>
          </a:prstGeom>
          <a:solidFill>
            <a:srgbClr val="B2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49240" y="2743200"/>
            <a:ext cx="1645920" cy="1645920"/>
          </a:xfrm>
          <a:prstGeom prst="ellipse">
            <a:avLst/>
          </a:prstGeom>
          <a:solidFill>
            <a:srgbClr val="2D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分发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49440" y="3310128"/>
            <a:ext cx="594360" cy="502920"/>
          </a:xfrm>
          <a:prstGeom prst="rightArrow">
            <a:avLst/>
          </a:prstGeom>
          <a:solidFill>
            <a:srgbClr val="B2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0" y="2743200"/>
            <a:ext cx="1645920" cy="1645920"/>
          </a:xfrm>
          <a:prstGeom prst="ellipse">
            <a:avLst/>
          </a:prstGeom>
          <a:solidFill>
            <a:srgbClr val="F5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应用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89720" y="3310128"/>
            <a:ext cx="594360" cy="502920"/>
          </a:xfrm>
          <a:prstGeom prst="rightArrow">
            <a:avLst/>
          </a:prstGeom>
          <a:solidFill>
            <a:srgbClr val="B2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29800" y="2743200"/>
            <a:ext cx="1645920" cy="1645920"/>
          </a:xfrm>
          <a:prstGeom prst="ellipse">
            <a:avLst/>
          </a:prstGeom>
          <a:solidFill>
            <a:srgbClr val="E25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复盘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72E"/>
                </a:solidFill>
                <a:latin typeface="Microsoft YaHei"/>
              </a:rPr>
              <a:t>每个环节都要有“责任人 + 产出标准 + 更新频率”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72E"/>
                </a:solidFill>
                <a:latin typeface="Microsoft YaHei"/>
              </a:rPr>
              <a:t>闭环越短，知识越新鲜，复用价值越高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04/14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0F274A"/>
                </a:solidFill>
                <a:latin typeface="Microsoft YaHei"/>
              </a:rPr>
              <a:t>方法一：结构化沉淀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86677"/>
                </a:solidFill>
                <a:latin typeface="Microsoft YaHei"/>
              </a:rPr>
              <a:t>把“零散信息”加工成“可复用资产”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2301087" y="868680"/>
            <a:ext cx="7589520" cy="960120"/>
          </a:xfrm>
          <a:prstGeom prst="triangle">
            <a:avLst/>
          </a:prstGeom>
          <a:solidFill>
            <a:srgbClr val="09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知识资产（模板/案例库）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2986887" y="1920240"/>
            <a:ext cx="6217920" cy="960120"/>
          </a:xfrm>
          <a:prstGeom prst="triangle">
            <a:avLst/>
          </a:prstGeom>
          <a:solidFill>
            <a:srgbClr val="35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方法（步骤、准则、决策树）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3672687" y="2971800"/>
            <a:ext cx="4846320" cy="960120"/>
          </a:xfrm>
          <a:prstGeom prst="triangle">
            <a:avLst/>
          </a:prstGeom>
          <a:solidFill>
            <a:srgbClr val="56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知识点（定义、规则、结论）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4358487" y="4023360"/>
            <a:ext cx="3474720" cy="960120"/>
          </a:xfrm>
          <a:prstGeom prst="triangle">
            <a:avLst/>
          </a:prstGeom>
          <a:solidFill>
            <a:srgbClr val="79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信息（记录、聊天、原始数据）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05/14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0F274A"/>
                </a:solidFill>
                <a:latin typeface="Microsoft YaHei"/>
              </a:rPr>
              <a:t>方法二：标准化模板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86677"/>
                </a:solidFill>
                <a:latin typeface="Microsoft YaHei"/>
              </a:rPr>
              <a:t>建议统一使用“一页知识卡”模板，降低撰写和阅读成本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知识卡示例：客户投诉处理 SOP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697480"/>
            <a:ext cx="29260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2697480"/>
            <a:ext cx="73152" cy="3017520"/>
          </a:xfrm>
          <a:prstGeom prst="rect">
            <a:avLst/>
          </a:prstGeom>
          <a:solidFill>
            <a:srgbClr val="09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39" y="286207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39" y="3209544"/>
            <a:ext cx="260604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何时使用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触发条件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697480"/>
            <a:ext cx="29260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697480"/>
            <a:ext cx="73152" cy="3017520"/>
          </a:xfrm>
          <a:prstGeom prst="rect">
            <a:avLst/>
          </a:prstGeom>
          <a:solidFill>
            <a:srgbClr val="2D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86207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209544"/>
            <a:ext cx="260604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1) 定级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2) 响应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3) 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697480"/>
            <a:ext cx="29260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2697480"/>
            <a:ext cx="73152" cy="3017520"/>
          </a:xfrm>
          <a:prstGeom prst="rect">
            <a:avLst/>
          </a:prstGeom>
          <a:solidFill>
            <a:srgbClr val="F5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86207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注意项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209544"/>
            <a:ext cx="260604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升级条件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常见错误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复盘清单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06/14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0F274A"/>
                </a:solidFill>
                <a:latin typeface="Microsoft YaHei"/>
              </a:rPr>
              <a:t>方法三：视觉化表达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86677"/>
                </a:solidFill>
                <a:latin typeface="Microsoft YaHei"/>
              </a:rPr>
              <a:t>同一知识可用三种图形表达：流程图、矩阵图、时间线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703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73152" cy="4480560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93392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流程图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40864"/>
            <a:ext cx="33832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适合：步骤明确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价值：降低理解偏差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示例：审批流程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828800"/>
            <a:ext cx="3703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53712" y="1828800"/>
            <a:ext cx="73152" cy="4480560"/>
          </a:xfrm>
          <a:prstGeom prst="rect">
            <a:avLst/>
          </a:prstGeom>
          <a:solidFill>
            <a:srgbClr val="09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993392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矩阵图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340864"/>
            <a:ext cx="33832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适合：分类与优先级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价值：辅助决策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示例：重要/紧急四象限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4" y="1828800"/>
            <a:ext cx="3063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1828800"/>
            <a:ext cx="73152" cy="4480560"/>
          </a:xfrm>
          <a:prstGeom prst="rect">
            <a:avLst/>
          </a:prstGeom>
          <a:solidFill>
            <a:srgbClr val="2D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9933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时间线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340864"/>
            <a:ext cx="2743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适合：阶段计划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价值：统一节奏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示例：30-60-90天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07/14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0F274A"/>
                </a:solidFill>
                <a:latin typeface="Microsoft YaHei"/>
              </a:rPr>
              <a:t>工具与载体地图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86677"/>
                </a:solidFill>
                <a:latin typeface="Microsoft YaHei"/>
              </a:rPr>
              <a:t>不追求工具多，追求“入口统一 + 版本唯一 + 权责明确”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aight Connector 5"/>
          <p:cNvSpPr/>
          <p:nvPr/>
        </p:nvSpPr>
        <p:spPr>
          <a:xfrm>
            <a:off x="6080760" y="1828800"/>
            <a:ext cx="0" cy="4389120"/>
          </a:xfrm>
          <a:prstGeom prst="lineInv">
            <a:avLst/>
          </a:prstGeom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1097280" y="4023360"/>
            <a:ext cx="9966960" cy="0"/>
          </a:xfrm>
          <a:prstGeom prst="lineInv">
            <a:avLst/>
          </a:prstGeom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0116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F274A"/>
                </a:solidFill>
                <a:latin typeface="Microsoft YaHei"/>
              </a:rPr>
              <a:t>文档库</a:t>
            </a:r>
          </a:p>
          <a:p>
            <a:r>
              <a:rPr sz="1400">
                <a:solidFill>
                  <a:srgbClr val="586677"/>
                </a:solidFill>
                <a:latin typeface="Microsoft YaHei"/>
              </a:rPr>
              <a:t>制度、模板、归档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F274A"/>
                </a:solidFill>
                <a:latin typeface="Microsoft YaHei"/>
              </a:rPr>
              <a:t>Wiki</a:t>
            </a:r>
          </a:p>
          <a:p>
            <a:r>
              <a:rPr sz="1400">
                <a:solidFill>
                  <a:srgbClr val="586677"/>
                </a:solidFill>
                <a:latin typeface="Microsoft YaHei"/>
              </a:rPr>
              <a:t>知识主题页、FAQ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20624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F274A"/>
                </a:solidFill>
                <a:latin typeface="Microsoft YaHei"/>
              </a:rPr>
              <a:t>问答库</a:t>
            </a:r>
          </a:p>
          <a:p>
            <a:r>
              <a:rPr sz="1400">
                <a:solidFill>
                  <a:srgbClr val="586677"/>
                </a:solidFill>
                <a:latin typeface="Microsoft YaHei"/>
              </a:rPr>
              <a:t>高频问题闭环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20624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F274A"/>
                </a:solidFill>
                <a:latin typeface="Microsoft YaHei"/>
              </a:rPr>
              <a:t>专家网络</a:t>
            </a:r>
          </a:p>
          <a:p>
            <a:r>
              <a:rPr sz="1400">
                <a:solidFill>
                  <a:srgbClr val="586677"/>
                </a:solidFill>
                <a:latin typeface="Microsoft YaHei"/>
              </a:rPr>
              <a:t>谁知道、找谁问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08/14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0F274A"/>
                </a:solidFill>
                <a:latin typeface="Microsoft YaHei"/>
              </a:rPr>
              <a:t>团队落地流程（7步）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86677"/>
                </a:solidFill>
                <a:latin typeface="Microsoft YaHei"/>
              </a:rPr>
              <a:t>每一步都要可交付、可检查、可迭代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43200"/>
            <a:ext cx="1508760" cy="914400"/>
          </a:xfrm>
          <a:prstGeom prst="round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1. 盘点</a:t>
            </a:r>
          </a:p>
        </p:txBody>
      </p:sp>
      <p:sp>
        <p:nvSpPr>
          <p:cNvPr id="6" name="Chevron 5"/>
          <p:cNvSpPr/>
          <p:nvPr/>
        </p:nvSpPr>
        <p:spPr>
          <a:xfrm>
            <a:off x="2167128" y="2880360"/>
            <a:ext cx="310896" cy="640080"/>
          </a:xfrm>
          <a:prstGeom prst="chevron">
            <a:avLst/>
          </a:prstGeom>
          <a:solidFill>
            <a:srgbClr val="B8C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50008" y="2743200"/>
            <a:ext cx="1508760" cy="914400"/>
          </a:xfrm>
          <a:prstGeom prst="roundRect">
            <a:avLst/>
          </a:prstGeom>
          <a:solidFill>
            <a:srgbClr val="1B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2. 分层</a:t>
            </a:r>
          </a:p>
        </p:txBody>
      </p:sp>
      <p:sp>
        <p:nvSpPr>
          <p:cNvPr id="8" name="Chevron 7"/>
          <p:cNvSpPr/>
          <p:nvPr/>
        </p:nvSpPr>
        <p:spPr>
          <a:xfrm>
            <a:off x="3831336" y="2880360"/>
            <a:ext cx="310896" cy="640080"/>
          </a:xfrm>
          <a:prstGeom prst="chevron">
            <a:avLst/>
          </a:prstGeom>
          <a:solidFill>
            <a:srgbClr val="B8C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14216" y="2743200"/>
            <a:ext cx="1508760" cy="914400"/>
          </a:xfrm>
          <a:prstGeom prst="roundRect">
            <a:avLst/>
          </a:prstGeom>
          <a:solidFill>
            <a:srgbClr val="09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3. 建模</a:t>
            </a:r>
          </a:p>
        </p:txBody>
      </p:sp>
      <p:sp>
        <p:nvSpPr>
          <p:cNvPr id="10" name="Chevron 9"/>
          <p:cNvSpPr/>
          <p:nvPr/>
        </p:nvSpPr>
        <p:spPr>
          <a:xfrm>
            <a:off x="5495544" y="2880360"/>
            <a:ext cx="310896" cy="640080"/>
          </a:xfrm>
          <a:prstGeom prst="chevron">
            <a:avLst/>
          </a:prstGeom>
          <a:solidFill>
            <a:srgbClr val="B8C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78424" y="2743200"/>
            <a:ext cx="1508760" cy="914400"/>
          </a:xfrm>
          <a:prstGeom prst="roundRect">
            <a:avLst/>
          </a:prstGeom>
          <a:solidFill>
            <a:srgbClr val="08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4. 模板</a:t>
            </a:r>
          </a:p>
        </p:txBody>
      </p:sp>
      <p:sp>
        <p:nvSpPr>
          <p:cNvPr id="12" name="Chevron 11"/>
          <p:cNvSpPr/>
          <p:nvPr/>
        </p:nvSpPr>
        <p:spPr>
          <a:xfrm>
            <a:off x="7159752" y="2880360"/>
            <a:ext cx="310896" cy="640080"/>
          </a:xfrm>
          <a:prstGeom prst="chevron">
            <a:avLst/>
          </a:prstGeom>
          <a:solidFill>
            <a:srgbClr val="B8C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42632" y="2743200"/>
            <a:ext cx="1508760" cy="914400"/>
          </a:xfrm>
          <a:prstGeom prst="roundRect">
            <a:avLst/>
          </a:prstGeom>
          <a:solidFill>
            <a:srgbClr val="2D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5. 发布</a:t>
            </a:r>
          </a:p>
        </p:txBody>
      </p:sp>
      <p:sp>
        <p:nvSpPr>
          <p:cNvPr id="14" name="Chevron 13"/>
          <p:cNvSpPr/>
          <p:nvPr/>
        </p:nvSpPr>
        <p:spPr>
          <a:xfrm>
            <a:off x="8823960" y="2880360"/>
            <a:ext cx="310896" cy="640080"/>
          </a:xfrm>
          <a:prstGeom prst="chevron">
            <a:avLst/>
          </a:prstGeom>
          <a:solidFill>
            <a:srgbClr val="B8C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06840" y="2743200"/>
            <a:ext cx="1508760" cy="914400"/>
          </a:xfrm>
          <a:prstGeom prst="roundRect">
            <a:avLst/>
          </a:prstGeom>
          <a:solidFill>
            <a:srgbClr val="F5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6. 运营</a:t>
            </a:r>
          </a:p>
        </p:txBody>
      </p:sp>
      <p:sp>
        <p:nvSpPr>
          <p:cNvPr id="16" name="Chevron 15"/>
          <p:cNvSpPr/>
          <p:nvPr/>
        </p:nvSpPr>
        <p:spPr>
          <a:xfrm>
            <a:off x="10488168" y="2880360"/>
            <a:ext cx="310896" cy="640080"/>
          </a:xfrm>
          <a:prstGeom prst="chevron">
            <a:avLst/>
          </a:prstGeom>
          <a:solidFill>
            <a:srgbClr val="B8C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71048" y="2743200"/>
            <a:ext cx="1508760" cy="914400"/>
          </a:xfrm>
          <a:prstGeom prst="roundRect">
            <a:avLst/>
          </a:prstGeom>
          <a:solidFill>
            <a:srgbClr val="E25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7. 复盘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72E"/>
                </a:solidFill>
                <a:latin typeface="Microsoft YaHei"/>
              </a:rPr>
              <a:t>建议先选一个业务场景做试点，2周验证后再扩面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72E"/>
                </a:solidFill>
                <a:latin typeface="Microsoft YaHei"/>
              </a:rPr>
              <a:t>流程可复制，模板需按团队场景定制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09/14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0F274A"/>
                </a:solidFill>
                <a:latin typeface="Microsoft YaHei"/>
              </a:rPr>
              <a:t>角色分工（谁来做）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86677"/>
                </a:solidFill>
                <a:latin typeface="Microsoft YaHei"/>
              </a:rPr>
              <a:t>用 RACI 思路明确责任，避免“都管=没人管”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1828800" cy="777240"/>
          </a:xfrm>
          <a:prstGeom prst="rect">
            <a:avLst/>
          </a:prstGeom>
          <a:solidFill>
            <a:srgbClr val="0F27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角色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920240"/>
            <a:ext cx="2011680" cy="777240"/>
          </a:xfrm>
          <a:prstGeom prst="rect">
            <a:avLst/>
          </a:prstGeom>
          <a:solidFill>
            <a:srgbClr val="0F27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R 负责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920240"/>
            <a:ext cx="2194560" cy="777240"/>
          </a:xfrm>
          <a:prstGeom prst="rect">
            <a:avLst/>
          </a:prstGeom>
          <a:solidFill>
            <a:srgbClr val="0F27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A 负责到底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920240"/>
            <a:ext cx="2103120" cy="777240"/>
          </a:xfrm>
          <a:prstGeom prst="rect">
            <a:avLst/>
          </a:prstGeom>
          <a:solidFill>
            <a:srgbClr val="0F27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C 协作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59" y="1920240"/>
            <a:ext cx="2194560" cy="777240"/>
          </a:xfrm>
          <a:prstGeom prst="rect">
            <a:avLst/>
          </a:prstGeom>
          <a:solidFill>
            <a:srgbClr val="0F27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I 知会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97480"/>
            <a:ext cx="18288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业务专家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697480"/>
            <a:ext cx="20116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提供知识源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697480"/>
            <a:ext cx="21945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2103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评审标准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59" y="2697480"/>
            <a:ext cx="21945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同步变更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657600"/>
            <a:ext cx="1828800" cy="960120"/>
          </a:xfrm>
          <a:prstGeom prst="rect">
            <a:avLst/>
          </a:prstGeom>
          <a:solidFill>
            <a:srgbClr val="F8FBFD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知识管理员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657600"/>
            <a:ext cx="2011680" cy="960120"/>
          </a:xfrm>
          <a:prstGeom prst="rect">
            <a:avLst/>
          </a:prstGeom>
          <a:solidFill>
            <a:srgbClr val="F8FBFD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整理发布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657600"/>
            <a:ext cx="2194560" cy="960120"/>
          </a:xfrm>
          <a:prstGeom prst="rect">
            <a:avLst/>
          </a:prstGeom>
          <a:solidFill>
            <a:srgbClr val="F8FBFD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版本管理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3657600"/>
            <a:ext cx="2103120" cy="960120"/>
          </a:xfrm>
          <a:prstGeom prst="rect">
            <a:avLst/>
          </a:prstGeom>
          <a:solidFill>
            <a:srgbClr val="F8FBFD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推动更新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3657600"/>
            <a:ext cx="2194560" cy="960120"/>
          </a:xfrm>
          <a:prstGeom prst="rect">
            <a:avLst/>
          </a:prstGeom>
          <a:solidFill>
            <a:srgbClr val="F8FBFD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广播通知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617720"/>
            <a:ext cx="18288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团队负责人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617720"/>
            <a:ext cx="20116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4617720"/>
            <a:ext cx="21945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目标与资源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4617720"/>
            <a:ext cx="2103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复盘节奏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4617720"/>
            <a:ext cx="21945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586677"/>
                </a:solidFill>
                <a:latin typeface="Microsoft YaHei"/>
              </a:rPr>
              <a:t>绩效关联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0F274A"/>
                </a:solidFill>
                <a:latin typeface="Microsoft YaHei"/>
              </a:rPr>
              <a:t>衡量指标（怎么判断有效）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86677"/>
                </a:solidFill>
                <a:latin typeface="Microsoft YaHei"/>
              </a:rPr>
              <a:t>同时关注“使用量、质量、时效、业务结果”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47672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97A7A"/>
                </a:solidFill>
                <a:latin typeface="Microsoft YaHei"/>
              </a:rPr>
              <a:t>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50591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86677"/>
                </a:solidFill>
                <a:latin typeface="Microsoft YaHei"/>
              </a:rPr>
              <a:t>知识检索命中率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78308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947672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59245"/>
                </a:solidFill>
                <a:latin typeface="Microsoft YaHei"/>
              </a:rPr>
              <a:t>48h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450591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86677"/>
                </a:solidFill>
                <a:latin typeface="Microsoft YaHei"/>
              </a:rPr>
              <a:t>知识更新时效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8308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47672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274A"/>
                </a:solidFill>
                <a:latin typeface="Microsoft YaHei"/>
              </a:rPr>
              <a:t>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50591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86677"/>
                </a:solidFill>
                <a:latin typeface="Microsoft YaHei"/>
              </a:rPr>
              <a:t>模板使用覆盖率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783080"/>
            <a:ext cx="2194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94767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2DA876"/>
                </a:solidFill>
                <a:latin typeface="Microsoft YaHei"/>
              </a:rPr>
              <a:t>-30%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450591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86677"/>
                </a:solidFill>
                <a:latin typeface="Microsoft YaHei"/>
              </a:rPr>
              <a:t>重复问答量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2160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6677"/>
                </a:solidFill>
                <a:latin typeface="Microsoft YaHei"/>
              </a:rPr>
              <a:t>试点前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657600"/>
            <a:ext cx="2103120" cy="411480"/>
          </a:xfrm>
          <a:prstGeom prst="rect">
            <a:avLst/>
          </a:prstGeom>
          <a:solidFill>
            <a:srgbClr val="B7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0740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6677"/>
                </a:solidFill>
                <a:latin typeface="Microsoft YaHei"/>
              </a:rPr>
              <a:t>第30天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4343400"/>
            <a:ext cx="3291840" cy="411480"/>
          </a:xfrm>
          <a:prstGeom prst="rect">
            <a:avLst/>
          </a:prstGeom>
          <a:solidFill>
            <a:srgbClr val="7BA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9320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6677"/>
                </a:solidFill>
                <a:latin typeface="Microsoft YaHei"/>
              </a:rPr>
              <a:t>第60天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5029200"/>
            <a:ext cx="4114800" cy="411480"/>
          </a:xfrm>
          <a:prstGeom prst="rect">
            <a:avLst/>
          </a:prstGeom>
          <a:solidFill>
            <a:srgbClr val="499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86677"/>
                </a:solidFill>
                <a:latin typeface="Microsoft YaHei"/>
              </a:rPr>
              <a:t>第90天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5715000"/>
            <a:ext cx="4754880" cy="411480"/>
          </a:xfrm>
          <a:prstGeom prst="rect">
            <a:avLst/>
          </a:prstGeom>
          <a:solidFill>
            <a:srgbClr val="09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0F274A"/>
                </a:solidFill>
                <a:latin typeface="Microsoft YaHei"/>
              </a:rPr>
              <a:t>常见误区与纠偏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86677"/>
                </a:solidFill>
                <a:latin typeface="Microsoft YaHei"/>
              </a:rPr>
              <a:t>先避免踩坑，再追求复杂功能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440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73152" cy="4480560"/>
          </a:xfrm>
          <a:prstGeom prst="rect">
            <a:avLst/>
          </a:prstGeom>
          <a:solidFill>
            <a:srgbClr val="E25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9339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常见误区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40864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重建设，轻运营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重工具，轻标准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重采集，轻复盘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重数量，轻质量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5440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828800"/>
            <a:ext cx="73152" cy="4480560"/>
          </a:xfrm>
          <a:prstGeom prst="rect">
            <a:avLst/>
          </a:prstGeom>
          <a:solidFill>
            <a:srgbClr val="2D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99339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1272E"/>
                </a:solidFill>
                <a:latin typeface="Microsoft YaHei"/>
              </a:rPr>
              <a:t>纠偏动作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340864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以业务场景为起点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先模板后平台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设定固定复盘节奏</a:t>
            </a:r>
          </a:p>
          <a:p>
            <a:pPr algn="l"/>
            <a:r>
              <a:rPr sz="1400">
                <a:solidFill>
                  <a:srgbClr val="586677"/>
                </a:solidFill>
                <a:latin typeface="Microsoft YaHei"/>
              </a:rPr>
              <a:t>把指标绑定到团队目标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0F274A"/>
                </a:solidFill>
                <a:latin typeface="Microsoft YaHei"/>
              </a:rPr>
              <a:t>30-60-90 天行动计划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86677"/>
                </a:solidFill>
                <a:latin typeface="Microsoft YaHei"/>
              </a:rPr>
              <a:t>用可执行计划替代“知道但不做”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3611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3611880" cy="731520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0-30天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1272E"/>
                </a:solidFill>
                <a:latin typeface="Microsoft YaHei"/>
              </a:rPr>
              <a:t>盘点高频问题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1272E"/>
                </a:solidFill>
                <a:latin typeface="Microsoft YaHei"/>
              </a:rPr>
              <a:t>确定模板标准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1272E"/>
                </a:solidFill>
                <a:latin typeface="Microsoft YaHei"/>
              </a:rPr>
              <a:t>完成试点范围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07992" y="3703320"/>
            <a:ext cx="502920" cy="502920"/>
          </a:xfrm>
          <a:prstGeom prst="rightArrow">
            <a:avLst/>
          </a:prstGeom>
          <a:solidFill>
            <a:srgbClr val="BE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60" y="2011680"/>
            <a:ext cx="3611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2011680"/>
            <a:ext cx="3611880" cy="731520"/>
          </a:xfrm>
          <a:prstGeom prst="rect">
            <a:avLst/>
          </a:prstGeom>
          <a:solidFill>
            <a:srgbClr val="09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31-60天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9718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1272E"/>
                </a:solidFill>
                <a:latin typeface="Microsoft YaHei"/>
              </a:rPr>
              <a:t>上线知识地图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1272E"/>
                </a:solidFill>
                <a:latin typeface="Microsoft YaHei"/>
              </a:rPr>
              <a:t>推行每周更新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1272E"/>
                </a:solidFill>
                <a:latin typeface="Microsoft YaHei"/>
              </a:rPr>
              <a:t>建立评审机制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348472" y="3703320"/>
            <a:ext cx="502920" cy="502920"/>
          </a:xfrm>
          <a:prstGeom prst="rightArrow">
            <a:avLst/>
          </a:prstGeom>
          <a:solidFill>
            <a:srgbClr val="BE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49640" y="2011680"/>
            <a:ext cx="3611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49640" y="2011680"/>
            <a:ext cx="3611880" cy="731520"/>
          </a:xfrm>
          <a:prstGeom prst="rect">
            <a:avLst/>
          </a:prstGeom>
          <a:solidFill>
            <a:srgbClr val="2D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61-90天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9718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1272E"/>
                </a:solidFill>
                <a:latin typeface="Microsoft YaHei"/>
              </a:rPr>
              <a:t>扩大到跨团队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1272E"/>
                </a:solidFill>
                <a:latin typeface="Microsoft YaHei"/>
              </a:rPr>
              <a:t>看板追踪指标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1272E"/>
                </a:solidFill>
                <a:latin typeface="Microsoft YaHei"/>
              </a:rPr>
              <a:t>形成季度复盘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FFFFFF"/>
                </a:solidFill>
                <a:latin typeface="Microsoft YaHei"/>
              </a:rPr>
              <a:t>总结：知识管理是“业务能力工程”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D6E4F5"/>
                </a:solidFill>
                <a:latin typeface="Microsoft YaHei"/>
              </a:rPr>
              <a:t>小步快跑，先做起来，再持续优化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Microsoft YaHei"/>
              </a:rPr>
              <a:t>先选一个场景试点：两周出结果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Microsoft YaHei"/>
              </a:rPr>
              <a:t>统一一页知识卡：降低沟通成本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Microsoft YaHei"/>
              </a:rPr>
              <a:t>建立周更新 + 月复盘：保持知识新鲜度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46320"/>
            <a:ext cx="10332720" cy="1097280"/>
          </a:xfrm>
          <a:prstGeom prst="roundRect">
            <a:avLst/>
          </a:prstGeom>
          <a:solidFill>
            <a:srgbClr val="09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latin typeface="Microsoft YaHei"/>
              </a:rPr>
              <a:t>行动口号：把经验变成资产，把资产变成效率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86677"/>
                </a:solidFill>
                <a:latin typeface="Microsoft YaHei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