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0"/>
            <a:ext cx="3108960" cy="3108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663440"/>
            <a:ext cx="2194560" cy="219456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PingFang SC"/>
              </a:rPr>
              <a:t>知识管理培训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BD5E1"/>
                </a:solidFill>
                <a:latin typeface="PingFang SC"/>
              </a:rPr>
              <a:t>10分钟 | 结构化沉淀 · 可视化表达 · 业务化落地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377440" cy="42062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ingFang SC"/>
              </a:rPr>
              <a:t>简单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377440" cy="42062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ingFang SC"/>
              </a:rPr>
              <a:t>结构化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2377440" cy="42062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F172A"/>
                </a:solidFill>
                <a:latin typeface="PingFang SC"/>
              </a:rPr>
              <a:t>视觉化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106070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PingFang SC"/>
              </a:rPr>
              <a:t>把分散经验，变成可检索、可复用、可传承的组织资产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PingFang SC"/>
              </a:rPr>
              <a:t>从“找不到”到“找得到”，从“看不懂”到“用得上”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BD5E1"/>
                </a:solidFill>
                <a:latin typeface="PingFang SC"/>
              </a:rPr>
              <a:t>从“个人经验”到“团队能力”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0"/>
            <a:ext cx="2103120" cy="21031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846320"/>
            <a:ext cx="1737360" cy="173736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培训结构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认知 -&gt; 方法 -&gt; 落地 -&gt; 行动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2240280"/>
            <a:ext cx="502920" cy="50292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2240280" y="2496312"/>
            <a:ext cx="1828800" cy="0"/>
          </a:xfrm>
          <a:prstGeom prst="lineInv">
            <a:avLst/>
          </a:prstGeom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0F172A"/>
                </a:solidFill>
                <a:latin typeface="PingFang SC"/>
              </a:rPr>
              <a:t>01 认知</a:t>
            </a:r>
          </a:p>
          <a:p>
            <a:pPr algn="ctr"/>
            <a:r>
              <a:rPr sz="1400">
                <a:solidFill>
                  <a:srgbClr val="64748B"/>
                </a:solidFill>
                <a:latin typeface="PingFang SC"/>
              </a:rPr>
              <a:t>为什么做</a:t>
            </a:r>
          </a:p>
        </p:txBody>
      </p:sp>
      <p:sp>
        <p:nvSpPr>
          <p:cNvPr id="10" name="Oval 9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029200" y="2496312"/>
            <a:ext cx="1828800" cy="0"/>
          </a:xfrm>
          <a:prstGeom prst="lineInv">
            <a:avLst/>
          </a:prstGeom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0F172A"/>
                </a:solidFill>
                <a:latin typeface="PingFang SC"/>
              </a:rPr>
              <a:t>02 方法</a:t>
            </a:r>
          </a:p>
          <a:p>
            <a:pPr algn="ctr"/>
            <a:r>
              <a:rPr sz="1400">
                <a:solidFill>
                  <a:srgbClr val="64748B"/>
                </a:solidFill>
                <a:latin typeface="PingFang SC"/>
              </a:rPr>
              <a:t>怎么做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24028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818119" y="2496312"/>
            <a:ext cx="1828800" cy="0"/>
          </a:xfrm>
          <a:prstGeom prst="lineInv">
            <a:avLst/>
          </a:prstGeom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0F172A"/>
                </a:solidFill>
                <a:latin typeface="PingFang SC"/>
              </a:rPr>
              <a:t>03 落地</a:t>
            </a:r>
          </a:p>
          <a:p>
            <a:pPr algn="ctr"/>
            <a:r>
              <a:rPr sz="1400">
                <a:solidFill>
                  <a:srgbClr val="64748B"/>
                </a:solidFill>
                <a:latin typeface="PingFang SC"/>
              </a:rPr>
              <a:t>谁来做</a:t>
            </a:r>
          </a:p>
        </p:txBody>
      </p:sp>
      <p:sp>
        <p:nvSpPr>
          <p:cNvPr id="16" name="Oval 15"/>
          <p:cNvSpPr/>
          <p:nvPr/>
        </p:nvSpPr>
        <p:spPr>
          <a:xfrm>
            <a:off x="10104119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2926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000">
                <a:solidFill>
                  <a:srgbClr val="0F172A"/>
                </a:solidFill>
                <a:latin typeface="PingFang SC"/>
              </a:rPr>
              <a:t>04 行动</a:t>
            </a:r>
          </a:p>
          <a:p>
            <a:pPr algn="ctr"/>
            <a:r>
              <a:rPr sz="1400">
                <a:solidFill>
                  <a:srgbClr val="64748B"/>
                </a:solidFill>
                <a:latin typeface="PingFang SC"/>
              </a:rPr>
              <a:t>何时做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  <a:latin typeface="PingFang SC"/>
              </a:rPr>
              <a:t>01 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4A3B8"/>
                </a:solidFill>
                <a:latin typeface="PingFang SC"/>
              </a:rPr>
              <a:t>从痛点出发，建立知识管理共识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0"/>
            <a:ext cx="2103120" cy="21031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846320"/>
            <a:ext cx="1737360" cy="173736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为什么要做知识管理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真正的问题是“知识无法被稳定复用”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82296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293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现状痛点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350008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问题反复出现，重复沟通多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知识散落在聊天/网盘/个人电脑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新人培养依赖“师傅带徒弟”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关键经验随人员流动而丢失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830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783080"/>
            <a:ext cx="82296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9293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业务价值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350008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检索效率提升，减少无效等待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流程标准化，质量波动更小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经验可传承，组织韧性更强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跨团队协作更顺畅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知识管理闭环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采集 -&gt; 结构化 -&gt; 分发 -&gt; 应用 -&gt; 复盘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377440"/>
            <a:ext cx="1600200" cy="1600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PingFang SC"/>
              </a:rPr>
              <a:t>采集</a:t>
            </a:r>
          </a:p>
        </p:txBody>
      </p:sp>
      <p:sp>
        <p:nvSpPr>
          <p:cNvPr id="6" name="Chevron 5"/>
          <p:cNvSpPr/>
          <p:nvPr/>
        </p:nvSpPr>
        <p:spPr>
          <a:xfrm>
            <a:off x="2670048" y="2834640"/>
            <a:ext cx="411480" cy="6400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46120" y="2377440"/>
            <a:ext cx="1600200" cy="1600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PingFang SC"/>
              </a:rPr>
              <a:t>结构化</a:t>
            </a:r>
          </a:p>
        </p:txBody>
      </p:sp>
      <p:sp>
        <p:nvSpPr>
          <p:cNvPr id="8" name="Chevron 7"/>
          <p:cNvSpPr/>
          <p:nvPr/>
        </p:nvSpPr>
        <p:spPr>
          <a:xfrm>
            <a:off x="4818888" y="2834640"/>
            <a:ext cx="411480" cy="6400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0" y="2377440"/>
            <a:ext cx="1600200" cy="1600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PingFang SC"/>
              </a:rPr>
              <a:t>分发</a:t>
            </a:r>
          </a:p>
        </p:txBody>
      </p:sp>
      <p:sp>
        <p:nvSpPr>
          <p:cNvPr id="10" name="Chevron 9"/>
          <p:cNvSpPr/>
          <p:nvPr/>
        </p:nvSpPr>
        <p:spPr>
          <a:xfrm>
            <a:off x="6967728" y="2834640"/>
            <a:ext cx="411480" cy="6400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43800" y="2377440"/>
            <a:ext cx="1600200" cy="1600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172A"/>
                </a:solidFill>
                <a:latin typeface="PingFang SC"/>
              </a:rPr>
              <a:t>应用</a:t>
            </a:r>
          </a:p>
        </p:txBody>
      </p:sp>
      <p:sp>
        <p:nvSpPr>
          <p:cNvPr id="12" name="Chevron 11"/>
          <p:cNvSpPr/>
          <p:nvPr/>
        </p:nvSpPr>
        <p:spPr>
          <a:xfrm>
            <a:off x="9116568" y="2834640"/>
            <a:ext cx="411480" cy="6400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40" y="2377440"/>
            <a:ext cx="1600200" cy="1600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PingFang SC"/>
              </a:rPr>
              <a:t>复盘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0F172A"/>
                </a:solidFill>
                <a:latin typeface="PingFang SC"/>
              </a:rPr>
              <a:t>闭环要素：每个环节都设置责任人、输出标准、更新时间，避免“建而不用”。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三种方法，快速落地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先统一表达方式，再推动规模化沉淀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82296" cy="4343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75104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结构化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395728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按主题/场景/流程分层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把信息加工为知识卡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形成可检索目录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53712" y="1828800"/>
            <a:ext cx="82296" cy="4343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75104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标准化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395728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统一模板与命名规则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明确版本和负责人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设定更新频率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1828800"/>
            <a:ext cx="3063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7510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视觉化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95728"/>
            <a:ext cx="2697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流程图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矩阵图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时间线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工具不是重点，治理才是重点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入口统一、版本唯一、职责清晰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240280"/>
            <a:ext cx="4343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  <a:latin typeface="PingFang SC"/>
              </a:rPr>
              <a:t>文档库</a:t>
            </a:r>
          </a:p>
          <a:p>
            <a:r>
              <a:rPr sz="1400">
                <a:solidFill>
                  <a:srgbClr val="64748B"/>
                </a:solidFill>
                <a:latin typeface="PingFang SC"/>
              </a:rPr>
              <a:t>制度/模板/标准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240280"/>
            <a:ext cx="4343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  <a:latin typeface="PingFang SC"/>
              </a:rPr>
              <a:t>Wiki</a:t>
            </a:r>
          </a:p>
          <a:p>
            <a:r>
              <a:rPr sz="1400">
                <a:solidFill>
                  <a:srgbClr val="64748B"/>
                </a:solidFill>
                <a:latin typeface="PingFang SC"/>
              </a:rPr>
              <a:t>主题页/FAQ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4343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  <a:latin typeface="PingFang SC"/>
              </a:rPr>
              <a:t>问答库</a:t>
            </a:r>
          </a:p>
          <a:p>
            <a:r>
              <a:rPr sz="1400">
                <a:solidFill>
                  <a:srgbClr val="64748B"/>
                </a:solidFill>
                <a:latin typeface="PingFang SC"/>
              </a:rPr>
              <a:t>高频问题闭环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206240"/>
            <a:ext cx="4343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  <a:latin typeface="PingFang SC"/>
              </a:rPr>
              <a:t>专家网络</a:t>
            </a:r>
          </a:p>
          <a:p>
            <a:r>
              <a:rPr sz="1400">
                <a:solidFill>
                  <a:srgbClr val="64748B"/>
                </a:solidFill>
                <a:latin typeface="PingFang SC"/>
              </a:rPr>
              <a:t>谁知道找谁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  <a:latin typeface="PingFang SC"/>
              </a:rPr>
              <a:t>02 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4A3B8"/>
                </a:solidFill>
                <a:latin typeface="PingFang SC"/>
              </a:rPr>
              <a:t>角色、指标、节奏三件事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角色分工（RACI）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都参与，但责任必须唯一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" cy="4389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208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业务专家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41448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提供一线经验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评审知识准确性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反馈应用问题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74519"/>
            <a:ext cx="82296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0208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知识管理员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441448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组织沉淀与发布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维护版本和目录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推动更新节奏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82296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020824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  <a:latin typeface="PingFang SC"/>
              </a:rPr>
              <a:t>团队负责人 C/I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441448"/>
            <a:ext cx="2788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分配资源与目标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跟踪效果指标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在例会中持续复盘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指标看板（建议）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看“是否被用”，再看“是否产生业务价值”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E7490"/>
                </a:solidFill>
                <a:latin typeface="PingFang SC"/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检索命中率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38528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59E0B"/>
                </a:solidFill>
                <a:latin typeface="PingFang SC"/>
              </a:rPr>
              <a:t>48h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871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知识更新时效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38528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0D9488"/>
                </a:solidFill>
                <a:latin typeface="PingFang SC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871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模板覆盖率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78308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938528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16A34A"/>
                </a:solidFill>
                <a:latin typeface="PingFang SC"/>
              </a:rPr>
              <a:t>-30%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248716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重复问答量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679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PingFang SC"/>
              </a:rPr>
              <a:t>试点前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3794760"/>
            <a:ext cx="2011680" cy="402336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079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PingFang SC"/>
              </a:rPr>
              <a:t>30天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4434840"/>
            <a:ext cx="3017520" cy="40233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480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PingFang SC"/>
              </a:rPr>
              <a:t>60天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5074920"/>
            <a:ext cx="3840480" cy="40233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881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PingFang SC"/>
              </a:rPr>
              <a:t>90天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5715000"/>
            <a:ext cx="4572000" cy="40233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PingFang SC"/>
              </a:rPr>
              <a:t>30-60-90 天行动路线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  <a:latin typeface="PingFang SC"/>
              </a:rPr>
              <a:t>先试点，再扩面，最后固化机制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3611880" cy="7315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FFFFFF"/>
                </a:solidFill>
                <a:latin typeface="PingFang SC"/>
              </a:rPr>
              <a:t>0-30天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52928"/>
            <a:ext cx="3200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完成知识盘点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确定模板与命名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跑通1个试点流程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26280" y="3840480"/>
            <a:ext cx="457200" cy="4572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9202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920240"/>
            <a:ext cx="361188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FFFFFF"/>
                </a:solidFill>
                <a:latin typeface="PingFang SC"/>
              </a:rPr>
              <a:t>31-60天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852928"/>
            <a:ext cx="3200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上线知识地图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建立每周更新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设置质量评审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66760" y="3840480"/>
            <a:ext cx="457200" cy="4572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9640" y="19202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1920240"/>
            <a:ext cx="361188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FFFFFF"/>
                </a:solidFill>
                <a:latin typeface="PingFang SC"/>
              </a:rPr>
              <a:t>61-90天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852928"/>
            <a:ext cx="3200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跨团队推广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看板跟踪指标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PingFang SC"/>
              </a:rPr>
              <a:t>形成月度复盘机制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0"/>
            <a:ext cx="2743200" cy="274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PingFang SC"/>
              </a:rPr>
              <a:t>把经验变成资产，把资产变成效率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234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BD5E1"/>
                </a:solidFill>
                <a:latin typeface="PingFang SC"/>
              </a:rPr>
              <a:t>知识管理不是文档工程，而是业务能力工程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514600"/>
            <a:ext cx="96926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PingFang SC"/>
              </a:rPr>
              <a:t>从一个高频业务场景开始试点（2周见结果）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PingFang SC"/>
              </a:rPr>
              <a:t>统一一页知识卡模板（先标准，再规模）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FFFFFF"/>
                </a:solidFill>
                <a:latin typeface="PingFang SC"/>
              </a:rPr>
              <a:t>建立周更新 + 月复盘机制（保证长期有效）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PingFang SC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